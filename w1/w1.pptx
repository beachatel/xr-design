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08" d="100"/>
          <a:sy n="108" d="100"/>
        </p:scale>
        <p:origin x="4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9A0DC2-1211-4822-AD3D-59B73878800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551C2A2-E679-4EC9-992C-1C069633FAF9}">
      <dgm:prSet/>
      <dgm:spPr/>
      <dgm:t>
        <a:bodyPr/>
        <a:lstStyle/>
        <a:p>
          <a:r>
            <a:rPr lang="en-GB"/>
            <a:t>To familiarize ourselves with a range of tools oriented towards WebXR development. </a:t>
          </a:r>
          <a:endParaRPr lang="en-US"/>
        </a:p>
      </dgm:t>
    </dgm:pt>
    <dgm:pt modelId="{F052B97C-FCB1-4F03-8DC5-BA2A91776207}" type="parTrans" cxnId="{75199833-39F9-4992-AF53-B1AD5FD30DD5}">
      <dgm:prSet/>
      <dgm:spPr/>
      <dgm:t>
        <a:bodyPr/>
        <a:lstStyle/>
        <a:p>
          <a:endParaRPr lang="en-US"/>
        </a:p>
      </dgm:t>
    </dgm:pt>
    <dgm:pt modelId="{BEC0F1D2-7B0D-4B2D-9FA7-DE303D99FC78}" type="sibTrans" cxnId="{75199833-39F9-4992-AF53-B1AD5FD30DD5}">
      <dgm:prSet/>
      <dgm:spPr/>
      <dgm:t>
        <a:bodyPr/>
        <a:lstStyle/>
        <a:p>
          <a:endParaRPr lang="en-US"/>
        </a:p>
      </dgm:t>
    </dgm:pt>
    <dgm:pt modelId="{E6EC791D-4CD4-4C63-A117-B80CAD037BC8}">
      <dgm:prSet/>
      <dgm:spPr/>
      <dgm:t>
        <a:bodyPr/>
        <a:lstStyle/>
        <a:p>
          <a:r>
            <a:rPr lang="en-GB"/>
            <a:t>To explore XR as a medium for expression and design through emerging technology.  </a:t>
          </a:r>
          <a:endParaRPr lang="en-US"/>
        </a:p>
      </dgm:t>
    </dgm:pt>
    <dgm:pt modelId="{1D74DCE0-EA34-46D2-B41D-0CFF8E07411B}" type="parTrans" cxnId="{8D48EC39-76C1-406B-8854-5431B6DF6D4F}">
      <dgm:prSet/>
      <dgm:spPr/>
      <dgm:t>
        <a:bodyPr/>
        <a:lstStyle/>
        <a:p>
          <a:endParaRPr lang="en-US"/>
        </a:p>
      </dgm:t>
    </dgm:pt>
    <dgm:pt modelId="{40346013-A82E-4712-9016-EC1EEB83C98E}" type="sibTrans" cxnId="{8D48EC39-76C1-406B-8854-5431B6DF6D4F}">
      <dgm:prSet/>
      <dgm:spPr/>
      <dgm:t>
        <a:bodyPr/>
        <a:lstStyle/>
        <a:p>
          <a:endParaRPr lang="en-US"/>
        </a:p>
      </dgm:t>
    </dgm:pt>
    <dgm:pt modelId="{C41A3DD4-BC1D-4F1D-B0AA-64A336040784}">
      <dgm:prSet/>
      <dgm:spPr/>
      <dgm:t>
        <a:bodyPr/>
        <a:lstStyle/>
        <a:p>
          <a:r>
            <a:rPr lang="en-GB"/>
            <a:t>Equip you with the capability to prototype and create basic XR applications. </a:t>
          </a:r>
          <a:endParaRPr lang="en-US"/>
        </a:p>
      </dgm:t>
    </dgm:pt>
    <dgm:pt modelId="{D3478CD1-7156-48F4-9E5B-E6EAE2F07F9D}" type="parTrans" cxnId="{5E03D9E9-8315-4552-AFBB-6DA86E82E446}">
      <dgm:prSet/>
      <dgm:spPr/>
      <dgm:t>
        <a:bodyPr/>
        <a:lstStyle/>
        <a:p>
          <a:endParaRPr lang="en-US"/>
        </a:p>
      </dgm:t>
    </dgm:pt>
    <dgm:pt modelId="{9A7335FA-8032-4FEC-92B3-0EC499FA8726}" type="sibTrans" cxnId="{5E03D9E9-8315-4552-AFBB-6DA86E82E446}">
      <dgm:prSet/>
      <dgm:spPr/>
      <dgm:t>
        <a:bodyPr/>
        <a:lstStyle/>
        <a:p>
          <a:endParaRPr lang="en-US"/>
        </a:p>
      </dgm:t>
    </dgm:pt>
    <dgm:pt modelId="{C8D12731-B4F9-4764-A207-91F9ADA91A30}">
      <dgm:prSet/>
      <dgm:spPr/>
      <dgm:t>
        <a:bodyPr/>
        <a:lstStyle/>
        <a:p>
          <a:r>
            <a:rPr lang="en-GB"/>
            <a:t>Encourage a culture of independent learning, investigation, and development. </a:t>
          </a:r>
          <a:endParaRPr lang="en-US"/>
        </a:p>
      </dgm:t>
    </dgm:pt>
    <dgm:pt modelId="{49B43015-848D-496D-8DFA-E54F8E665AAF}" type="parTrans" cxnId="{0FE12822-9D76-4146-BB43-2A573DB3C8F7}">
      <dgm:prSet/>
      <dgm:spPr/>
      <dgm:t>
        <a:bodyPr/>
        <a:lstStyle/>
        <a:p>
          <a:endParaRPr lang="en-US"/>
        </a:p>
      </dgm:t>
    </dgm:pt>
    <dgm:pt modelId="{4FE22B82-6ED2-4921-81B9-F767111FFAFC}" type="sibTrans" cxnId="{0FE12822-9D76-4146-BB43-2A573DB3C8F7}">
      <dgm:prSet/>
      <dgm:spPr/>
      <dgm:t>
        <a:bodyPr/>
        <a:lstStyle/>
        <a:p>
          <a:endParaRPr lang="en-US"/>
        </a:p>
      </dgm:t>
    </dgm:pt>
    <dgm:pt modelId="{B709450A-0465-FF41-9DF4-ED06DB6197C6}" type="pres">
      <dgm:prSet presAssocID="{479A0DC2-1211-4822-AD3D-59B738788006}" presName="vert0" presStyleCnt="0">
        <dgm:presLayoutVars>
          <dgm:dir/>
          <dgm:animOne val="branch"/>
          <dgm:animLvl val="lvl"/>
        </dgm:presLayoutVars>
      </dgm:prSet>
      <dgm:spPr/>
    </dgm:pt>
    <dgm:pt modelId="{7663F36A-E862-B043-907A-78E53E3C5776}" type="pres">
      <dgm:prSet presAssocID="{3551C2A2-E679-4EC9-992C-1C069633FAF9}" presName="thickLine" presStyleLbl="alignNode1" presStyleIdx="0" presStyleCnt="4"/>
      <dgm:spPr/>
    </dgm:pt>
    <dgm:pt modelId="{C41DA19D-BC33-EA42-BEC3-14EFE1F04BA6}" type="pres">
      <dgm:prSet presAssocID="{3551C2A2-E679-4EC9-992C-1C069633FAF9}" presName="horz1" presStyleCnt="0"/>
      <dgm:spPr/>
    </dgm:pt>
    <dgm:pt modelId="{54226585-2BEE-2242-99A7-0B596C9532C6}" type="pres">
      <dgm:prSet presAssocID="{3551C2A2-E679-4EC9-992C-1C069633FAF9}" presName="tx1" presStyleLbl="revTx" presStyleIdx="0" presStyleCnt="4"/>
      <dgm:spPr/>
    </dgm:pt>
    <dgm:pt modelId="{DE7E5CC4-ECCD-4544-820F-A295A3D5C58E}" type="pres">
      <dgm:prSet presAssocID="{3551C2A2-E679-4EC9-992C-1C069633FAF9}" presName="vert1" presStyleCnt="0"/>
      <dgm:spPr/>
    </dgm:pt>
    <dgm:pt modelId="{85D9D986-2A5F-F345-A0AC-A33B698F5455}" type="pres">
      <dgm:prSet presAssocID="{E6EC791D-4CD4-4C63-A117-B80CAD037BC8}" presName="thickLine" presStyleLbl="alignNode1" presStyleIdx="1" presStyleCnt="4"/>
      <dgm:spPr/>
    </dgm:pt>
    <dgm:pt modelId="{A07F3895-0D73-C140-A9A3-AFA1AEBC1826}" type="pres">
      <dgm:prSet presAssocID="{E6EC791D-4CD4-4C63-A117-B80CAD037BC8}" presName="horz1" presStyleCnt="0"/>
      <dgm:spPr/>
    </dgm:pt>
    <dgm:pt modelId="{D90C2F22-AA1C-6845-9611-5AD11E9F6A16}" type="pres">
      <dgm:prSet presAssocID="{E6EC791D-4CD4-4C63-A117-B80CAD037BC8}" presName="tx1" presStyleLbl="revTx" presStyleIdx="1" presStyleCnt="4"/>
      <dgm:spPr/>
    </dgm:pt>
    <dgm:pt modelId="{0BF84AB2-10E5-594E-AC5F-9C3B4DC9E87F}" type="pres">
      <dgm:prSet presAssocID="{E6EC791D-4CD4-4C63-A117-B80CAD037BC8}" presName="vert1" presStyleCnt="0"/>
      <dgm:spPr/>
    </dgm:pt>
    <dgm:pt modelId="{D6FEE870-233C-1A45-ACCD-299C6DA62579}" type="pres">
      <dgm:prSet presAssocID="{C41A3DD4-BC1D-4F1D-B0AA-64A336040784}" presName="thickLine" presStyleLbl="alignNode1" presStyleIdx="2" presStyleCnt="4"/>
      <dgm:spPr/>
    </dgm:pt>
    <dgm:pt modelId="{AAAE5409-84EF-D843-BC79-8DB08F27A1B9}" type="pres">
      <dgm:prSet presAssocID="{C41A3DD4-BC1D-4F1D-B0AA-64A336040784}" presName="horz1" presStyleCnt="0"/>
      <dgm:spPr/>
    </dgm:pt>
    <dgm:pt modelId="{57113C88-6144-354C-AA9B-3337624BADB2}" type="pres">
      <dgm:prSet presAssocID="{C41A3DD4-BC1D-4F1D-B0AA-64A336040784}" presName="tx1" presStyleLbl="revTx" presStyleIdx="2" presStyleCnt="4"/>
      <dgm:spPr/>
    </dgm:pt>
    <dgm:pt modelId="{4DEEBAE5-4227-0E41-9385-E8D45052014D}" type="pres">
      <dgm:prSet presAssocID="{C41A3DD4-BC1D-4F1D-B0AA-64A336040784}" presName="vert1" presStyleCnt="0"/>
      <dgm:spPr/>
    </dgm:pt>
    <dgm:pt modelId="{B7B42CBB-438C-ED4D-A1D6-6DBB0267F6C3}" type="pres">
      <dgm:prSet presAssocID="{C8D12731-B4F9-4764-A207-91F9ADA91A30}" presName="thickLine" presStyleLbl="alignNode1" presStyleIdx="3" presStyleCnt="4"/>
      <dgm:spPr/>
    </dgm:pt>
    <dgm:pt modelId="{F623FFC3-170A-304E-9E5F-D7FCEAF2635C}" type="pres">
      <dgm:prSet presAssocID="{C8D12731-B4F9-4764-A207-91F9ADA91A30}" presName="horz1" presStyleCnt="0"/>
      <dgm:spPr/>
    </dgm:pt>
    <dgm:pt modelId="{99C38A55-C9FE-AD4B-8885-4DC2C4E7684C}" type="pres">
      <dgm:prSet presAssocID="{C8D12731-B4F9-4764-A207-91F9ADA91A30}" presName="tx1" presStyleLbl="revTx" presStyleIdx="3" presStyleCnt="4"/>
      <dgm:spPr/>
    </dgm:pt>
    <dgm:pt modelId="{8995B78A-9AE4-844A-AA18-63F0766D9AA4}" type="pres">
      <dgm:prSet presAssocID="{C8D12731-B4F9-4764-A207-91F9ADA91A30}" presName="vert1" presStyleCnt="0"/>
      <dgm:spPr/>
    </dgm:pt>
  </dgm:ptLst>
  <dgm:cxnLst>
    <dgm:cxn modelId="{56259306-CEE7-F448-82BC-DB3B92DF6285}" type="presOf" srcId="{C8D12731-B4F9-4764-A207-91F9ADA91A30}" destId="{99C38A55-C9FE-AD4B-8885-4DC2C4E7684C}" srcOrd="0" destOrd="0" presId="urn:microsoft.com/office/officeart/2008/layout/LinedList"/>
    <dgm:cxn modelId="{0FE12822-9D76-4146-BB43-2A573DB3C8F7}" srcId="{479A0DC2-1211-4822-AD3D-59B738788006}" destId="{C8D12731-B4F9-4764-A207-91F9ADA91A30}" srcOrd="3" destOrd="0" parTransId="{49B43015-848D-496D-8DFA-E54F8E665AAF}" sibTransId="{4FE22B82-6ED2-4921-81B9-F767111FFAFC}"/>
    <dgm:cxn modelId="{75199833-39F9-4992-AF53-B1AD5FD30DD5}" srcId="{479A0DC2-1211-4822-AD3D-59B738788006}" destId="{3551C2A2-E679-4EC9-992C-1C069633FAF9}" srcOrd="0" destOrd="0" parTransId="{F052B97C-FCB1-4F03-8DC5-BA2A91776207}" sibTransId="{BEC0F1D2-7B0D-4B2D-9FA7-DE303D99FC78}"/>
    <dgm:cxn modelId="{8D48EC39-76C1-406B-8854-5431B6DF6D4F}" srcId="{479A0DC2-1211-4822-AD3D-59B738788006}" destId="{E6EC791D-4CD4-4C63-A117-B80CAD037BC8}" srcOrd="1" destOrd="0" parTransId="{1D74DCE0-EA34-46D2-B41D-0CFF8E07411B}" sibTransId="{40346013-A82E-4712-9016-EC1EEB83C98E}"/>
    <dgm:cxn modelId="{92A3F576-DBA0-BE45-9775-9299B7D7C333}" type="presOf" srcId="{C41A3DD4-BC1D-4F1D-B0AA-64A336040784}" destId="{57113C88-6144-354C-AA9B-3337624BADB2}" srcOrd="0" destOrd="0" presId="urn:microsoft.com/office/officeart/2008/layout/LinedList"/>
    <dgm:cxn modelId="{52C35393-2303-B140-8C42-58AA3175B926}" type="presOf" srcId="{E6EC791D-4CD4-4C63-A117-B80CAD037BC8}" destId="{D90C2F22-AA1C-6845-9611-5AD11E9F6A16}" srcOrd="0" destOrd="0" presId="urn:microsoft.com/office/officeart/2008/layout/LinedList"/>
    <dgm:cxn modelId="{FFC785D6-5A7D-9546-8953-9746A826FDCE}" type="presOf" srcId="{479A0DC2-1211-4822-AD3D-59B738788006}" destId="{B709450A-0465-FF41-9DF4-ED06DB6197C6}" srcOrd="0" destOrd="0" presId="urn:microsoft.com/office/officeart/2008/layout/LinedList"/>
    <dgm:cxn modelId="{5E03D9E9-8315-4552-AFBB-6DA86E82E446}" srcId="{479A0DC2-1211-4822-AD3D-59B738788006}" destId="{C41A3DD4-BC1D-4F1D-B0AA-64A336040784}" srcOrd="2" destOrd="0" parTransId="{D3478CD1-7156-48F4-9E5B-E6EAE2F07F9D}" sibTransId="{9A7335FA-8032-4FEC-92B3-0EC499FA8726}"/>
    <dgm:cxn modelId="{17F2B2F3-81A3-3548-9CE5-AADEB969D83F}" type="presOf" srcId="{3551C2A2-E679-4EC9-992C-1C069633FAF9}" destId="{54226585-2BEE-2242-99A7-0B596C9532C6}" srcOrd="0" destOrd="0" presId="urn:microsoft.com/office/officeart/2008/layout/LinedList"/>
    <dgm:cxn modelId="{C3FD60D1-7BCF-A641-A36D-697C0284AF87}" type="presParOf" srcId="{B709450A-0465-FF41-9DF4-ED06DB6197C6}" destId="{7663F36A-E862-B043-907A-78E53E3C5776}" srcOrd="0" destOrd="0" presId="urn:microsoft.com/office/officeart/2008/layout/LinedList"/>
    <dgm:cxn modelId="{21A37FDE-2448-AF47-8735-35B8CC1212C1}" type="presParOf" srcId="{B709450A-0465-FF41-9DF4-ED06DB6197C6}" destId="{C41DA19D-BC33-EA42-BEC3-14EFE1F04BA6}" srcOrd="1" destOrd="0" presId="urn:microsoft.com/office/officeart/2008/layout/LinedList"/>
    <dgm:cxn modelId="{F91B5273-B463-564D-B9E2-17B1AD1B970A}" type="presParOf" srcId="{C41DA19D-BC33-EA42-BEC3-14EFE1F04BA6}" destId="{54226585-2BEE-2242-99A7-0B596C9532C6}" srcOrd="0" destOrd="0" presId="urn:microsoft.com/office/officeart/2008/layout/LinedList"/>
    <dgm:cxn modelId="{DA49FFB4-1CD5-C34C-8824-388CB304C39A}" type="presParOf" srcId="{C41DA19D-BC33-EA42-BEC3-14EFE1F04BA6}" destId="{DE7E5CC4-ECCD-4544-820F-A295A3D5C58E}" srcOrd="1" destOrd="0" presId="urn:microsoft.com/office/officeart/2008/layout/LinedList"/>
    <dgm:cxn modelId="{01812A29-E006-384E-AE4F-077BA5BA5E1E}" type="presParOf" srcId="{B709450A-0465-FF41-9DF4-ED06DB6197C6}" destId="{85D9D986-2A5F-F345-A0AC-A33B698F5455}" srcOrd="2" destOrd="0" presId="urn:microsoft.com/office/officeart/2008/layout/LinedList"/>
    <dgm:cxn modelId="{ABE1008D-E599-254B-9475-9C59D57F17EB}" type="presParOf" srcId="{B709450A-0465-FF41-9DF4-ED06DB6197C6}" destId="{A07F3895-0D73-C140-A9A3-AFA1AEBC1826}" srcOrd="3" destOrd="0" presId="urn:microsoft.com/office/officeart/2008/layout/LinedList"/>
    <dgm:cxn modelId="{8C0297FE-65C6-F14E-BC3C-54F806ABB6EF}" type="presParOf" srcId="{A07F3895-0D73-C140-A9A3-AFA1AEBC1826}" destId="{D90C2F22-AA1C-6845-9611-5AD11E9F6A16}" srcOrd="0" destOrd="0" presId="urn:microsoft.com/office/officeart/2008/layout/LinedList"/>
    <dgm:cxn modelId="{4B344BA7-26C1-8049-932E-1093C42FF073}" type="presParOf" srcId="{A07F3895-0D73-C140-A9A3-AFA1AEBC1826}" destId="{0BF84AB2-10E5-594E-AC5F-9C3B4DC9E87F}" srcOrd="1" destOrd="0" presId="urn:microsoft.com/office/officeart/2008/layout/LinedList"/>
    <dgm:cxn modelId="{FE80DB3C-DB19-4B4E-B22E-6A5D73EF884D}" type="presParOf" srcId="{B709450A-0465-FF41-9DF4-ED06DB6197C6}" destId="{D6FEE870-233C-1A45-ACCD-299C6DA62579}" srcOrd="4" destOrd="0" presId="urn:microsoft.com/office/officeart/2008/layout/LinedList"/>
    <dgm:cxn modelId="{8BDF6636-0E3C-5145-94CB-2F151EAC691A}" type="presParOf" srcId="{B709450A-0465-FF41-9DF4-ED06DB6197C6}" destId="{AAAE5409-84EF-D843-BC79-8DB08F27A1B9}" srcOrd="5" destOrd="0" presId="urn:microsoft.com/office/officeart/2008/layout/LinedList"/>
    <dgm:cxn modelId="{6ACC3DA8-9CEB-9849-8520-9C74325CE3C1}" type="presParOf" srcId="{AAAE5409-84EF-D843-BC79-8DB08F27A1B9}" destId="{57113C88-6144-354C-AA9B-3337624BADB2}" srcOrd="0" destOrd="0" presId="urn:microsoft.com/office/officeart/2008/layout/LinedList"/>
    <dgm:cxn modelId="{30B4BA16-A4F0-D74D-ACD7-458D7637DAE3}" type="presParOf" srcId="{AAAE5409-84EF-D843-BC79-8DB08F27A1B9}" destId="{4DEEBAE5-4227-0E41-9385-E8D45052014D}" srcOrd="1" destOrd="0" presId="urn:microsoft.com/office/officeart/2008/layout/LinedList"/>
    <dgm:cxn modelId="{0904EC0E-2D10-394B-B8D2-573CFCDCFBD4}" type="presParOf" srcId="{B709450A-0465-FF41-9DF4-ED06DB6197C6}" destId="{B7B42CBB-438C-ED4D-A1D6-6DBB0267F6C3}" srcOrd="6" destOrd="0" presId="urn:microsoft.com/office/officeart/2008/layout/LinedList"/>
    <dgm:cxn modelId="{D0CBDD7F-ED9F-E743-9CFD-F8C2950236AA}" type="presParOf" srcId="{B709450A-0465-FF41-9DF4-ED06DB6197C6}" destId="{F623FFC3-170A-304E-9E5F-D7FCEAF2635C}" srcOrd="7" destOrd="0" presId="urn:microsoft.com/office/officeart/2008/layout/LinedList"/>
    <dgm:cxn modelId="{E4AE509A-0E2E-D448-AE9B-EAFF0BF955B4}" type="presParOf" srcId="{F623FFC3-170A-304E-9E5F-D7FCEAF2635C}" destId="{99C38A55-C9FE-AD4B-8885-4DC2C4E7684C}" srcOrd="0" destOrd="0" presId="urn:microsoft.com/office/officeart/2008/layout/LinedList"/>
    <dgm:cxn modelId="{C0AAD442-269A-7845-B18E-EDE9D9D15078}" type="presParOf" srcId="{F623FFC3-170A-304E-9E5F-D7FCEAF2635C}" destId="{8995B78A-9AE4-844A-AA18-63F0766D9AA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63F36A-E862-B043-907A-78E53E3C5776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226585-2BEE-2242-99A7-0B596C9532C6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To familiarize ourselves with a range of tools oriented towards WebXR development. </a:t>
          </a:r>
          <a:endParaRPr lang="en-US" sz="3000" kern="1200"/>
        </a:p>
      </dsp:txBody>
      <dsp:txXfrm>
        <a:off x="0" y="0"/>
        <a:ext cx="10515600" cy="1087834"/>
      </dsp:txXfrm>
    </dsp:sp>
    <dsp:sp modelId="{85D9D986-2A5F-F345-A0AC-A33B698F5455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0C2F22-AA1C-6845-9611-5AD11E9F6A16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To explore XR as a medium for expression and design through emerging technology.  </a:t>
          </a:r>
          <a:endParaRPr lang="en-US" sz="3000" kern="1200"/>
        </a:p>
      </dsp:txBody>
      <dsp:txXfrm>
        <a:off x="0" y="1087834"/>
        <a:ext cx="10515600" cy="1087834"/>
      </dsp:txXfrm>
    </dsp:sp>
    <dsp:sp modelId="{D6FEE870-233C-1A45-ACCD-299C6DA62579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113C88-6144-354C-AA9B-3337624BADB2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Equip you with the capability to prototype and create basic XR applications. </a:t>
          </a:r>
          <a:endParaRPr lang="en-US" sz="3000" kern="1200"/>
        </a:p>
      </dsp:txBody>
      <dsp:txXfrm>
        <a:off x="0" y="2175669"/>
        <a:ext cx="10515600" cy="1087834"/>
      </dsp:txXfrm>
    </dsp:sp>
    <dsp:sp modelId="{B7B42CBB-438C-ED4D-A1D6-6DBB0267F6C3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38A55-C9FE-AD4B-8885-4DC2C4E7684C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Encourage a culture of independent learning, investigation, and development. </a:t>
          </a:r>
          <a:endParaRPr lang="en-US" sz="3000" kern="1200"/>
        </a:p>
      </dsp:txBody>
      <dsp:txXfrm>
        <a:off x="0" y="3263503"/>
        <a:ext cx="10515600" cy="1087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43F819-A2CD-124F-A894-7DDFF9F1808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E5C17-2837-7246-8573-6863A419B4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462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E5C17-2837-7246-8573-6863A419B45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13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98CD9-DF0C-394E-0070-A82CA71B5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1A57B-2580-C30E-7716-B8CD7FB6B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0D10D6-5EF6-AD48-D906-400661874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DA426-9B14-7CC8-5E38-8C19AC339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E5C17-2837-7246-8573-6863A419B45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093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214A-C997-EC41-A50C-267320ECB337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0F4A0-AE84-C744-AC63-EAC941F12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500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214A-C997-EC41-A50C-267320ECB337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0F4A0-AE84-C744-AC63-EAC941F12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50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214A-C997-EC41-A50C-267320ECB337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0F4A0-AE84-C744-AC63-EAC941F12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22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214A-C997-EC41-A50C-267320ECB337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0F4A0-AE84-C744-AC63-EAC941F12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81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214A-C997-EC41-A50C-267320ECB337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0F4A0-AE84-C744-AC63-EAC941F12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018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214A-C997-EC41-A50C-267320ECB337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0F4A0-AE84-C744-AC63-EAC941F12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0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214A-C997-EC41-A50C-267320ECB337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0F4A0-AE84-C744-AC63-EAC941F12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52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214A-C997-EC41-A50C-267320ECB337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0F4A0-AE84-C744-AC63-EAC941F12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378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214A-C997-EC41-A50C-267320ECB337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0F4A0-AE84-C744-AC63-EAC941F12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996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214A-C997-EC41-A50C-267320ECB337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0F4A0-AE84-C744-AC63-EAC941F12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4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214A-C997-EC41-A50C-267320ECB337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0F4A0-AE84-C744-AC63-EAC941F12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111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DF4214A-C997-EC41-A50C-267320ECB337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B0F4A0-AE84-C744-AC63-EAC941F12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773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pkumar.com/top-5-three-js-game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eish.med.uchile.cl/?c=139501117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mmersionvr.io/en/discover-webxr-a-javascript-api-for-creating-vr-and-ar-experiences-on-the-web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hyperlink" Target="https://developer.mozilla.org/en-US/docs/Web/API/WebXR_Device_API/Fundamental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post.co/2023/05/09/wonderland-engine-webxr-development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gianluca.lomarco/three-js-vite-basic-scene-tutorial-3abc2669da6d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hyperlink" Target="https://threejs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acktpub.com/en-gb/product/learn-threejs-9781803235868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franzini.gitbooks.io/tracer/content/support/command-line-mac-vs.-windows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hyperlink" Target="https://vite.dev/guide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leancommit.io/blog/what-is-vit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7" name="Picture 6" descr="A low polygon ball and trees&#10;&#10;AI-generated content may be incorrect.">
            <a:extLst>
              <a:ext uri="{FF2B5EF4-FFF2-40B4-BE49-F238E27FC236}">
                <a16:creationId xmlns:a16="http://schemas.microsoft.com/office/drawing/2014/main" id="{91D30A53-76F1-B5C3-A06E-CE64F625F6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139" r="-1" b="-1"/>
          <a:stretch>
            <a:fillRect/>
          </a:stretch>
        </p:blipFill>
        <p:spPr>
          <a:xfrm>
            <a:off x="187388" y="182880"/>
            <a:ext cx="11824481" cy="64997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8ECB73-1FB1-7274-094E-1BCCC27D3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81" y="1122363"/>
            <a:ext cx="9795637" cy="2217158"/>
          </a:xfrm>
        </p:spPr>
        <p:txBody>
          <a:bodyPr>
            <a:normAutofit/>
          </a:bodyPr>
          <a:lstStyle/>
          <a:p>
            <a:pPr algn="l"/>
            <a:r>
              <a:rPr lang="en-US" sz="5200">
                <a:solidFill>
                  <a:srgbClr val="FFFFFF"/>
                </a:solidFill>
              </a:rPr>
              <a:t>XR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627933-816E-C112-339B-68B9424B2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181" y="3526021"/>
            <a:ext cx="9795637" cy="2042260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Week 1 - Introduction</a:t>
            </a:r>
          </a:p>
        </p:txBody>
      </p:sp>
    </p:spTree>
    <p:extLst>
      <p:ext uri="{BB962C8B-B14F-4D97-AF65-F5344CB8AC3E}">
        <p14:creationId xmlns:p14="http://schemas.microsoft.com/office/powerpoint/2010/main" val="2454272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27F36-E873-A3F5-96E5-9C87ABB7A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9227A-5F93-523F-8524-7852CB841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module serves as an introduction to immersive technologies, as well as a platform for the creative application of the knowledge and skills developed in L4.</a:t>
            </a:r>
          </a:p>
          <a:p>
            <a:r>
              <a:rPr lang="en-GB" dirty="0"/>
              <a:t> You will be introduced to the technical underpinnings of XR technology for mobile and web applications and produce a self-guided project exploring the techniques presented throughout the module. 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693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6C15-7975-E016-300B-052D176B4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Aims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99D044-403E-2088-5512-10E66C9B939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6234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1263E-0A9A-4A40-F190-13AB64B36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B8D48-21E0-722A-9542-FBD55C031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 an understanding of XR as an expressive, as well as technical medium for design</a:t>
            </a:r>
          </a:p>
          <a:p>
            <a:r>
              <a:rPr lang="en-US" dirty="0"/>
              <a:t>Apply principles of immersive design (presence, realism, immersion, engagement).</a:t>
            </a:r>
          </a:p>
          <a:p>
            <a:r>
              <a:rPr lang="en-GB" dirty="0"/>
              <a:t>Design basic immersive and interactive applications using standard coding practice.</a:t>
            </a:r>
          </a:p>
          <a:p>
            <a:r>
              <a:rPr lang="en-GB" dirty="0"/>
              <a:t>Demonstrate an intermediate level of prototyping and agile software design practice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810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E914-EBAD-102D-AD73-18CA1FF4E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623" y="753748"/>
            <a:ext cx="5219307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What is XR?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20E21-FFFD-1724-68A3-EA183E3FD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622" y="2545833"/>
            <a:ext cx="5219307" cy="3537410"/>
          </a:xfrm>
        </p:spPr>
        <p:txBody>
          <a:bodyPr anchor="t">
            <a:normAutofit/>
          </a:bodyPr>
          <a:lstStyle/>
          <a:p>
            <a:r>
              <a:rPr lang="en-US" sz="2000" dirty="0"/>
              <a:t>XR stands for extended-reality. </a:t>
            </a:r>
          </a:p>
          <a:p>
            <a:r>
              <a:rPr lang="en-US" sz="2000" dirty="0"/>
              <a:t>XR is an umbrella term that encompasses all immersive technologies, including Virtual Reality (VR), Augmented Reality (AR), and Mixed Reality (MR). XR represents the spectrum of digital and physical interactions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3FCF167-4C33-CDD6-2219-A02A92469B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0" t="9270" r="6328" b="2720"/>
          <a:stretch/>
        </p:blipFill>
        <p:spPr bwMode="auto">
          <a:xfrm>
            <a:off x="6095999" y="1764963"/>
            <a:ext cx="5542503" cy="3328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C54A2A4D-19EF-3552-F383-6AD9587C8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9208F0F-2734-3945-8FD0-EEB19CF41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2CFF5D9-43B9-9D58-6F3F-25041716D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40031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2624-B90A-7280-AA5B-A76D56A0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XR Now</a:t>
            </a:r>
          </a:p>
        </p:txBody>
      </p:sp>
      <p:pic>
        <p:nvPicPr>
          <p:cNvPr id="5" name="Picture 4" descr="A person wearing a virtual reality headset&#10;&#10;AI-generated content may be incorrect.">
            <a:extLst>
              <a:ext uri="{FF2B5EF4-FFF2-40B4-BE49-F238E27FC236}">
                <a16:creationId xmlns:a16="http://schemas.microsoft.com/office/drawing/2014/main" id="{42C0A3D0-5BD5-28DC-2A0E-98FF389C4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7606" r="32617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57AD1-583C-0F61-1F2C-8A53B9EAB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anchor="t">
            <a:normAutofit/>
          </a:bodyPr>
          <a:lstStyle/>
          <a:p>
            <a:r>
              <a:rPr lang="en-US" sz="2000"/>
              <a:t>XR has become a rapidly growing paradigm thanks to advancements in displays, headsets, GPU and CPU power.</a:t>
            </a:r>
          </a:p>
          <a:p>
            <a:r>
              <a:rPr lang="en-US" sz="2000"/>
              <a:t>So far, VR has dominated the market, with a primary focus on video games but many other applications exist.</a:t>
            </a:r>
          </a:p>
          <a:p>
            <a:r>
              <a:rPr lang="en-US" sz="2000"/>
              <a:t>As mobile phones have become more powerful, we have seen the progression of AR and VR for mobile and web. </a:t>
            </a:r>
          </a:p>
        </p:txBody>
      </p:sp>
    </p:spTree>
    <p:extLst>
      <p:ext uri="{BB962C8B-B14F-4D97-AF65-F5344CB8AC3E}">
        <p14:creationId xmlns:p14="http://schemas.microsoft.com/office/powerpoint/2010/main" val="4218101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virtual reality headset and a virtual reality headset&#10;&#10;AI-generated content may be incorrect.">
            <a:extLst>
              <a:ext uri="{FF2B5EF4-FFF2-40B4-BE49-F238E27FC236}">
                <a16:creationId xmlns:a16="http://schemas.microsoft.com/office/drawing/2014/main" id="{BFBC4EDF-9246-B891-30C8-66611785DC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873" b="787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457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41A1-AB59-DBB5-6455-6210566BF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WebXR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D1850-CE16-54CB-7E77-4A970C5B5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2000"/>
              <a:t>WebXR is an open web standard (API) that lets developers create immersive virtual reality (VR) and augmented reality (AR) experiences that run directly in web browsers (mobile or desktop).</a:t>
            </a:r>
          </a:p>
          <a:p>
            <a:r>
              <a:rPr lang="en-US" sz="2000"/>
              <a:t>You can find out everything you need to know about WebXR here: </a:t>
            </a:r>
            <a:r>
              <a:rPr lang="en-US" sz="2000">
                <a:hlinkClick r:id="rId2"/>
              </a:rPr>
              <a:t>https://developer.mozilla.org/en-US/docs/Web/API/WebXR_Device_API/Fundamentals</a:t>
            </a:r>
            <a:r>
              <a:rPr lang="en-US" sz="2000"/>
              <a:t> </a:t>
            </a:r>
          </a:p>
        </p:txBody>
      </p:sp>
      <p:pic>
        <p:nvPicPr>
          <p:cNvPr id="5" name="Picture 4" descr="A video game screen with a video game controller&#10;&#10;AI-generated content may be incorrect.">
            <a:extLst>
              <a:ext uri="{FF2B5EF4-FFF2-40B4-BE49-F238E27FC236}">
                <a16:creationId xmlns:a16="http://schemas.microsoft.com/office/drawing/2014/main" id="{74E596EA-A2FC-DEE5-39F5-E2E4893AE5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6845" r="23260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5350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5099F-A505-F5AA-7EAE-9E8B82726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/>
              <a:t>WebXR Tools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1AD62-48A6-8009-31E4-98D93EF9F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800" dirty="0"/>
              <a:t>There are many tools that allow you to create projects that leverage the </a:t>
            </a:r>
            <a:r>
              <a:rPr lang="en-US" sz="1800" dirty="0" err="1"/>
              <a:t>WebXR</a:t>
            </a:r>
            <a:r>
              <a:rPr lang="en-US" sz="1800" dirty="0"/>
              <a:t> API.</a:t>
            </a:r>
          </a:p>
          <a:p>
            <a:r>
              <a:rPr lang="en-US" sz="1800" dirty="0"/>
              <a:t>They come in the form of JS libraries which provide dedicated functions and coding principles that enable easier </a:t>
            </a:r>
            <a:r>
              <a:rPr lang="en-US" sz="1800" dirty="0" err="1"/>
              <a:t>WebXR</a:t>
            </a:r>
            <a:r>
              <a:rPr lang="en-US" sz="1800" dirty="0"/>
              <a:t> development.</a:t>
            </a:r>
          </a:p>
          <a:p>
            <a:r>
              <a:rPr lang="en-US" sz="1800" dirty="0"/>
              <a:t>We will be using </a:t>
            </a:r>
            <a:r>
              <a:rPr lang="en-US" sz="1800" dirty="0" err="1"/>
              <a:t>Three.js</a:t>
            </a:r>
            <a:endParaRPr lang="en-US" sz="1800" dirty="0"/>
          </a:p>
        </p:txBody>
      </p:sp>
      <p:pic>
        <p:nvPicPr>
          <p:cNvPr id="5" name="Picture 4" descr="A group of different shapes&#10;&#10;AI-generated content may be incorrect.">
            <a:extLst>
              <a:ext uri="{FF2B5EF4-FFF2-40B4-BE49-F238E27FC236}">
                <a16:creationId xmlns:a16="http://schemas.microsoft.com/office/drawing/2014/main" id="{03AF285F-EB7A-FE93-75B9-E8BB5E79B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385816" y="1589954"/>
            <a:ext cx="6440424" cy="362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744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F7932-C097-844C-6246-BF1787CF7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Three.js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18DF9-9B6D-78EA-B869-FE57C34AF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1400" dirty="0" err="1"/>
              <a:t>Three.js</a:t>
            </a:r>
            <a:r>
              <a:rPr lang="en-US" sz="1400" dirty="0"/>
              <a:t> is a 3D library that tries to make it as easy as possible to get 3D content on a webpage.</a:t>
            </a:r>
          </a:p>
          <a:p>
            <a:r>
              <a:rPr lang="en-US" sz="1400" dirty="0" err="1"/>
              <a:t>Three.js</a:t>
            </a:r>
            <a:r>
              <a:rPr lang="en-US" sz="1400" dirty="0"/>
              <a:t> uses WebGL to draw 3D objects on screen. </a:t>
            </a:r>
          </a:p>
          <a:p>
            <a:r>
              <a:rPr lang="en-US" sz="1400" dirty="0"/>
              <a:t>WebGL is a very low-level system that only draws points, lines, and triangles. To do anything useful with WebGL generally requires quite a bit of code and that is where </a:t>
            </a:r>
            <a:r>
              <a:rPr lang="en-US" sz="1400" dirty="0" err="1"/>
              <a:t>three.js</a:t>
            </a:r>
            <a:r>
              <a:rPr lang="en-US" sz="1400" dirty="0"/>
              <a:t> comes in. </a:t>
            </a:r>
          </a:p>
          <a:p>
            <a:r>
              <a:rPr lang="en-US" sz="1400" dirty="0"/>
              <a:t>It handles stuff like scenes, lights, shadows, materials, textures, 3d math, all things that you'd have to write yourself if you were to use WebGL directly.</a:t>
            </a:r>
          </a:p>
          <a:p>
            <a:r>
              <a:rPr lang="en-US" sz="1400" dirty="0"/>
              <a:t>It additionally interfaces with the </a:t>
            </a:r>
            <a:r>
              <a:rPr lang="en-US" sz="1400" dirty="0" err="1"/>
              <a:t>WebXR</a:t>
            </a:r>
            <a:r>
              <a:rPr lang="en-US" sz="1400" dirty="0"/>
              <a:t> API allowing access to VR headsets and mobile device sensors to provide control and immersion.</a:t>
            </a:r>
          </a:p>
          <a:p>
            <a:r>
              <a:rPr lang="en-US" sz="1400" dirty="0">
                <a:hlinkClick r:id="rId2"/>
              </a:rPr>
              <a:t>https://threejs.org/</a:t>
            </a:r>
            <a:r>
              <a:rPr lang="en-US" sz="1400" dirty="0"/>
              <a:t> </a:t>
            </a:r>
          </a:p>
        </p:txBody>
      </p:sp>
      <p:pic>
        <p:nvPicPr>
          <p:cNvPr id="5" name="Picture 4" descr="A computer screen shot of a building&#10;&#10;AI-generated content may be incorrect.">
            <a:extLst>
              <a:ext uri="{FF2B5EF4-FFF2-40B4-BE49-F238E27FC236}">
                <a16:creationId xmlns:a16="http://schemas.microsoft.com/office/drawing/2014/main" id="{58E3285A-FC9C-9619-3B43-3133ED84E7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8794" r="22864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0101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F436-0503-A94A-277B-F5212B90A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Three.js</a:t>
            </a:r>
            <a:r>
              <a:rPr lang="en-US" dirty="0"/>
              <a:t>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F918C-EC76-3D76-67CD-B74DB4C22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Overall, </a:t>
            </a:r>
            <a:r>
              <a:rPr lang="en-US" dirty="0" err="1"/>
              <a:t>three.js</a:t>
            </a:r>
            <a:r>
              <a:rPr lang="en-US" dirty="0"/>
              <a:t> can be </a:t>
            </a:r>
            <a:r>
              <a:rPr lang="en-US" dirty="0" err="1"/>
              <a:t>conceptualised</a:t>
            </a:r>
            <a:r>
              <a:rPr lang="en-US" dirty="0"/>
              <a:t> similarly to P5.js</a:t>
            </a:r>
          </a:p>
          <a:p>
            <a:r>
              <a:rPr lang="en-US" dirty="0"/>
              <a:t>There is a setup part of the programme, where you will load or create all your 3D assets, lights, cameras and other environment parameters.</a:t>
            </a:r>
          </a:p>
          <a:p>
            <a:r>
              <a:rPr lang="en-US" dirty="0"/>
              <a:t>You also have an animation loop, which allows you to modify the parameters of your 3D scene and objects.</a:t>
            </a:r>
          </a:p>
        </p:txBody>
      </p:sp>
    </p:spTree>
    <p:extLst>
      <p:ext uri="{BB962C8B-B14F-4D97-AF65-F5344CB8AC3E}">
        <p14:creationId xmlns:p14="http://schemas.microsoft.com/office/powerpoint/2010/main" val="3968316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4599FE-C4CA-FFA6-BBD0-5F41787E2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AB6CAC-E2B4-E875-2F4B-3865A2E4D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/>
              <a:t>Anatomy of three.js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64918-C9E2-8C84-E275-B9C49A9C3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A </a:t>
            </a:r>
            <a:r>
              <a:rPr lang="en-US" sz="2000" dirty="0" err="1"/>
              <a:t>three.js</a:t>
            </a:r>
            <a:r>
              <a:rPr lang="en-US" sz="2000" dirty="0"/>
              <a:t> app requires you to create a bunch of objects and connect them together. Here's a diagram that represents a small </a:t>
            </a:r>
            <a:r>
              <a:rPr lang="en-US" sz="2000" dirty="0" err="1"/>
              <a:t>three.js</a:t>
            </a:r>
            <a:r>
              <a:rPr lang="en-US" sz="2000" dirty="0"/>
              <a:t> app</a:t>
            </a:r>
          </a:p>
          <a:p>
            <a:r>
              <a:rPr lang="en-US" sz="2000" dirty="0"/>
              <a:t>There is a Renderer into which you pass a Scene and a Camera and it renders (draws) the portion of the 3D scene that is visible to the camera as a 2D image to a canvas.</a:t>
            </a:r>
          </a:p>
          <a:p>
            <a:r>
              <a:rPr lang="en-US" sz="2000" dirty="0"/>
              <a:t>There is a </a:t>
            </a:r>
            <a:r>
              <a:rPr lang="en-US" sz="2000" dirty="0" err="1"/>
              <a:t>scenegraph</a:t>
            </a:r>
            <a:r>
              <a:rPr lang="en-US" sz="2000" dirty="0"/>
              <a:t> which is a tree-like structure, consisting of various objects like a Scene object, multiple Mesh objects, Light objects, Group, Object3D, and Camera objects.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36ABB50-89EA-751C-2265-70B77DC2C6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19367" y="1735031"/>
            <a:ext cx="5899706" cy="3917773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755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B0A35A-025D-08F2-4B40-BFD61D481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Our First </a:t>
            </a:r>
            <a:r>
              <a:rPr lang="en-US" dirty="0" err="1"/>
              <a:t>three.js</a:t>
            </a:r>
            <a:r>
              <a:rPr lang="en-US" dirty="0"/>
              <a:t> Project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2C87F97-A97E-60FD-E483-3232726E4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US" sz="2000" dirty="0"/>
              <a:t>Like all programming languages, we start of with the “hello, world!” programme.</a:t>
            </a:r>
          </a:p>
          <a:p>
            <a:r>
              <a:rPr lang="en-US" sz="2000" dirty="0"/>
              <a:t>In </a:t>
            </a:r>
            <a:r>
              <a:rPr lang="en-US" sz="2000" dirty="0" err="1"/>
              <a:t>three.js</a:t>
            </a:r>
            <a:r>
              <a:rPr lang="en-US" sz="2000" dirty="0"/>
              <a:t> it’s jokingly referred to as the “hello, cube!” programme.</a:t>
            </a:r>
          </a:p>
          <a:p>
            <a:r>
              <a:rPr lang="en-US" sz="2000" dirty="0"/>
              <a:t>This is the most basic </a:t>
            </a:r>
            <a:r>
              <a:rPr lang="en-US" sz="2000" dirty="0" err="1"/>
              <a:t>scenegraph</a:t>
            </a:r>
            <a:r>
              <a:rPr lang="en-US" sz="2000" dirty="0"/>
              <a:t> we can create in </a:t>
            </a:r>
            <a:r>
              <a:rPr lang="en-US" sz="2000" dirty="0" err="1"/>
              <a:t>three.js</a:t>
            </a:r>
            <a:endParaRPr lang="en-US" sz="2000" dirty="0"/>
          </a:p>
          <a:p>
            <a:r>
              <a:rPr lang="en-US" sz="2000" dirty="0"/>
              <a:t>Follow the guide on blackboard to install and run your first </a:t>
            </a:r>
            <a:r>
              <a:rPr lang="en-US" sz="2000" dirty="0" err="1"/>
              <a:t>three.js</a:t>
            </a:r>
            <a:r>
              <a:rPr lang="en-US" sz="2000" dirty="0"/>
              <a:t> programme.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0A156B-6F1C-0099-6008-D9CF9B84B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9367" y="2492242"/>
            <a:ext cx="4788505" cy="3141259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80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46A1C-9D85-5F71-60EA-657373726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/>
              <a:t>The Terminal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5E3A2-2608-76FB-CF81-28CC5FF0F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800" dirty="0"/>
              <a:t>From this point onwards, we will need to familiarize ourselves with the terminal.</a:t>
            </a:r>
          </a:p>
          <a:p>
            <a:r>
              <a:rPr lang="en-US" sz="1800" dirty="0"/>
              <a:t>The terminal is the portal through which developers execute system commands for building software projects. It is an industry standard.</a:t>
            </a:r>
          </a:p>
          <a:p>
            <a:r>
              <a:rPr lang="en-US" sz="1800" dirty="0"/>
              <a:t>To use the terminal, we type command line prompts. These are instructions that tell the terminal what we want to do.</a:t>
            </a:r>
          </a:p>
          <a:p>
            <a:r>
              <a:rPr lang="en-US" sz="1800" dirty="0">
                <a:hlinkClick r:id="rId2"/>
              </a:rPr>
              <a:t>https://gfranzini.gitbooks.io/tracer/content/support/command-line-mac-vs.-windows.html</a:t>
            </a:r>
            <a:endParaRPr lang="en-US" sz="1800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86CD504B-6B22-25A2-8696-AFD2F7EC9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865406"/>
            <a:ext cx="6440424" cy="507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764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EE50EA-DA3F-00ED-5318-9E4AB34B6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/>
              <a:t>Node.js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7715-A6F6-6A2E-1415-5BE5524A4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5481056" cy="3882960"/>
          </a:xfrm>
        </p:spPr>
        <p:txBody>
          <a:bodyPr>
            <a:normAutofit/>
          </a:bodyPr>
          <a:lstStyle/>
          <a:p>
            <a:r>
              <a:rPr lang="en-US" sz="1600" dirty="0"/>
              <a:t>The easiest way to install </a:t>
            </a:r>
            <a:r>
              <a:rPr lang="en-US" sz="1600" dirty="0" err="1"/>
              <a:t>three.js</a:t>
            </a:r>
            <a:r>
              <a:rPr lang="en-US" sz="1600" dirty="0"/>
              <a:t> and any JS package is through </a:t>
            </a:r>
            <a:r>
              <a:rPr lang="en-US" sz="1600" dirty="0" err="1"/>
              <a:t>node.js</a:t>
            </a:r>
            <a:r>
              <a:rPr lang="en-US" sz="1600" dirty="0"/>
              <a:t> and NPM (node package manager)</a:t>
            </a:r>
          </a:p>
          <a:p>
            <a:r>
              <a:rPr lang="en-US" sz="1600" dirty="0"/>
              <a:t>Node is primarily a backend tool, but we will use it to run and build our project while developing it.</a:t>
            </a:r>
          </a:p>
          <a:p>
            <a:r>
              <a:rPr lang="en-US" sz="1600" dirty="0"/>
              <a:t>In first year, we established that JS is an interpreted language (i.e., not compiled). </a:t>
            </a:r>
          </a:p>
          <a:p>
            <a:r>
              <a:rPr lang="en-US" sz="1600" dirty="0"/>
              <a:t>JS requires a runtime environment for the computer to execute the code.</a:t>
            </a:r>
          </a:p>
          <a:p>
            <a:r>
              <a:rPr lang="en-US" sz="1600" dirty="0"/>
              <a:t>This runtime environment can live in the browser, such as how we have been coding with JS so far; or directly on a computer, using </a:t>
            </a:r>
            <a:r>
              <a:rPr lang="en-US" sz="1600" dirty="0" err="1"/>
              <a:t>node.js</a:t>
            </a:r>
            <a:r>
              <a:rPr lang="en-US" sz="1600" dirty="0"/>
              <a:t>.</a:t>
            </a:r>
          </a:p>
          <a:p>
            <a:r>
              <a:rPr lang="en-US" sz="1600" dirty="0"/>
              <a:t>Node.js is a runtime environment for JS, primarily used for coding servers and API interactions.</a:t>
            </a:r>
          </a:p>
        </p:txBody>
      </p:sp>
      <p:pic>
        <p:nvPicPr>
          <p:cNvPr id="4" name="Picture 2" descr="Node.js - Wikipedia">
            <a:extLst>
              <a:ext uri="{FF2B5EF4-FFF2-40B4-BE49-F238E27FC236}">
                <a16:creationId xmlns:a16="http://schemas.microsoft.com/office/drawing/2014/main" id="{F924358B-E111-C7B0-2769-B03FC20EF1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64"/>
          <a:stretch/>
        </p:blipFill>
        <p:spPr bwMode="auto">
          <a:xfrm>
            <a:off x="6258296" y="2684095"/>
            <a:ext cx="5567944" cy="2767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1893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735EA4-9554-A27D-27B2-A959FAB00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US" sz="4000"/>
              <a:t>Build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F19D7-220A-5BA7-E20B-38F352B88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>
            <a:normAutofit/>
          </a:bodyPr>
          <a:lstStyle/>
          <a:p>
            <a:r>
              <a:rPr lang="en-US" sz="1700" dirty="0"/>
              <a:t>The other thing we will need to run our project is a build tool.</a:t>
            </a:r>
          </a:p>
          <a:p>
            <a:r>
              <a:rPr lang="en-US" sz="1700" dirty="0"/>
              <a:t>A build tool is a crucial piece of software that simplifies and automates the transformation of software source code into a deployable, executable form.</a:t>
            </a:r>
          </a:p>
          <a:p>
            <a:r>
              <a:rPr lang="en-US" sz="1700" dirty="0"/>
              <a:t>Build tools consist of two parts:</a:t>
            </a:r>
          </a:p>
          <a:p>
            <a:pPr lvl="1"/>
            <a:r>
              <a:rPr lang="en-US" sz="1700" dirty="0"/>
              <a:t>A development server </a:t>
            </a:r>
            <a:r>
              <a:rPr lang="en-US" sz="1700"/>
              <a:t>which hosts your </a:t>
            </a:r>
            <a:r>
              <a:rPr lang="en-US" sz="1700" dirty="0"/>
              <a:t>project at development.</a:t>
            </a:r>
          </a:p>
          <a:p>
            <a:pPr lvl="1"/>
            <a:r>
              <a:rPr lang="en-US" sz="1700" dirty="0"/>
              <a:t>A set of build commands that package all your code and dependencies so that they can be deployed on the web,</a:t>
            </a:r>
          </a:p>
          <a:p>
            <a:r>
              <a:rPr lang="en-US" sz="1700" dirty="0"/>
              <a:t>We will be using Vite - </a:t>
            </a:r>
            <a:r>
              <a:rPr lang="en-US" sz="1700" dirty="0">
                <a:hlinkClick r:id="rId2"/>
              </a:rPr>
              <a:t>https://vite.dev/guide/</a:t>
            </a:r>
            <a:r>
              <a:rPr lang="en-US" sz="1700" dirty="0"/>
              <a:t> </a:t>
            </a:r>
          </a:p>
        </p:txBody>
      </p:sp>
      <p:pic>
        <p:nvPicPr>
          <p:cNvPr id="8" name="Picture 7" descr="A logo of a company&#10;&#10;AI-generated content may be incorrect.">
            <a:extLst>
              <a:ext uri="{FF2B5EF4-FFF2-40B4-BE49-F238E27FC236}">
                <a16:creationId xmlns:a16="http://schemas.microsoft.com/office/drawing/2014/main" id="{B169926D-10EF-A6BF-A80F-2D94E41F3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2571" r="31030"/>
          <a:stretch>
            <a:fillRect/>
          </a:stretch>
        </p:blipFill>
        <p:spPr>
          <a:xfrm>
            <a:off x="7486588" y="644241"/>
            <a:ext cx="4054562" cy="556951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152538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</TotalTime>
  <Words>1101</Words>
  <Application>Microsoft Macintosh PowerPoint</Application>
  <PresentationFormat>Widescreen</PresentationFormat>
  <Paragraphs>70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XR Design</vt:lpstr>
      <vt:lpstr>Module Summary</vt:lpstr>
      <vt:lpstr>Module Aims</vt:lpstr>
      <vt:lpstr>Learning Outcomes</vt:lpstr>
      <vt:lpstr>What is XR?</vt:lpstr>
      <vt:lpstr>XR Now</vt:lpstr>
      <vt:lpstr>PowerPoint Presentation</vt:lpstr>
      <vt:lpstr>WebXR</vt:lpstr>
      <vt:lpstr>WebXR Tools</vt:lpstr>
      <vt:lpstr>Three.js</vt:lpstr>
      <vt:lpstr>Three.js Concepts</vt:lpstr>
      <vt:lpstr>Anatomy of three.js Project</vt:lpstr>
      <vt:lpstr>Our First three.js Project</vt:lpstr>
      <vt:lpstr>The Terminal</vt:lpstr>
      <vt:lpstr>Node.js</vt:lpstr>
      <vt:lpstr>Build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Stuart Haffenden Cornejo</dc:creator>
  <cp:lastModifiedBy>Stuart Haffenden Cornejo</cp:lastModifiedBy>
  <cp:revision>10</cp:revision>
  <dcterms:created xsi:type="dcterms:W3CDTF">2026-01-21T20:02:12Z</dcterms:created>
  <dcterms:modified xsi:type="dcterms:W3CDTF">2026-01-21T21:08:22Z</dcterms:modified>
</cp:coreProperties>
</file>